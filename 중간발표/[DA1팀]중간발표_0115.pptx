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68" r:id="rId1"/>
  </p:sldMasterIdLst>
  <p:notesMasterIdLst>
    <p:notesMasterId r:id="rId2"/>
  </p:notesMasterIdLst>
  <p:sldIdLst>
    <p:sldId id="256" r:id="rId3"/>
    <p:sldId id="257" r:id="rId4"/>
    <p:sldId id="260" r:id="rId5"/>
    <p:sldId id="259" r:id="rId6"/>
    <p:sldId id="261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666" y="523"/>
      </p:cViewPr>
      <p:guideLst>
        <p:guide orient="horz" pos="1615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png"  /><Relationship Id="rId4" Type="http://schemas.openxmlformats.org/officeDocument/2006/relationships/image" Target="../media/image1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7.png"  /><Relationship Id="rId4" Type="http://schemas.openxmlformats.org/officeDocument/2006/relationships/image" Target="../media/image2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>
                <a:solidFill>
                  <a:srgbClr val="19264b"/>
                </a:solidFill>
              </a:rPr>
              <a:t>CUAI </a:t>
            </a:r>
            <a:r>
              <a:rPr lang="ko-KR" altLang="en-US" sz="2500" b="1">
                <a:solidFill>
                  <a:srgbClr val="19264b"/>
                </a:solidFill>
              </a:rPr>
              <a:t>동계 컨퍼런스 </a:t>
            </a:r>
            <a:r>
              <a:rPr lang="en-US" altLang="ko-KR" sz="2500" b="1">
                <a:solidFill>
                  <a:srgbClr val="19264b"/>
                </a:solidFill>
              </a:rPr>
              <a:t>DA</a:t>
            </a:r>
            <a:r>
              <a:rPr lang="ko" sz="2500" b="1">
                <a:solidFill>
                  <a:srgbClr val="19264b"/>
                </a:solidFill>
              </a:rPr>
              <a:t> </a:t>
            </a:r>
            <a:r>
              <a:rPr lang="en-US" altLang="ko" sz="2500" b="1">
                <a:solidFill>
                  <a:srgbClr val="19264b"/>
                </a:solidFill>
              </a:rPr>
              <a:t>1</a:t>
            </a:r>
            <a:r>
              <a:rPr lang="ko" sz="2500" b="1">
                <a:solidFill>
                  <a:srgbClr val="19264b"/>
                </a:solidFill>
              </a:rPr>
              <a:t>팀</a:t>
            </a:r>
            <a:endParaRPr lang="ko" sz="2500" b="1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rgbClr val="19264b"/>
                </a:solidFill>
              </a:rPr>
              <a:t>202</a:t>
            </a:r>
            <a:r>
              <a:rPr lang="en-US" altLang="ko-KR">
                <a:solidFill>
                  <a:srgbClr val="19264b"/>
                </a:solidFill>
              </a:rPr>
              <a:t>6</a:t>
            </a:r>
            <a:r>
              <a:rPr lang="en-US" altLang="ko">
                <a:solidFill>
                  <a:srgbClr val="19264b"/>
                </a:solidFill>
              </a:rPr>
              <a:t>.</a:t>
            </a:r>
            <a:r>
              <a:rPr lang="en-US" altLang="ko-KR">
                <a:solidFill>
                  <a:srgbClr val="19264b"/>
                </a:solidFill>
              </a:rPr>
              <a:t>01</a:t>
            </a:r>
            <a:r>
              <a:rPr lang="en-US" altLang="ko">
                <a:solidFill>
                  <a:srgbClr val="19264b"/>
                </a:solidFill>
              </a:rPr>
              <a:t>.</a:t>
            </a:r>
            <a:r>
              <a:rPr lang="en-US" altLang="ko-KR">
                <a:solidFill>
                  <a:srgbClr val="19264b"/>
                </a:solidFill>
              </a:rPr>
              <a:t>15</a:t>
            </a:r>
            <a:endParaRPr lang="en-US" altLang="ko-KR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>
                <a:solidFill>
                  <a:srgbClr val="19264b"/>
                </a:solidFill>
              </a:rPr>
              <a:t>발표자 : </a:t>
            </a:r>
            <a:r>
              <a:rPr lang="ko-KR" altLang="en-US" sz="1100">
                <a:solidFill>
                  <a:srgbClr val="19264b"/>
                </a:solidFill>
              </a:rPr>
              <a:t>한종성</a:t>
            </a:r>
            <a:endParaRPr lang="ko-KR" altLang="en-US" sz="110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152899" y="1700421"/>
            <a:ext cx="2282100" cy="1261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algn="ctr">
              <a:defRPr/>
            </a:pPr>
            <a:r>
              <a:rPr lang="ko"/>
              <a:t>스터디원 1 : </a:t>
            </a:r>
            <a:r>
              <a:rPr lang="ko-KR" altLang="en-US"/>
              <a:t>신수인</a:t>
            </a:r>
            <a:endParaRPr lang="ko-KR" altLang="en-US"/>
          </a:p>
          <a:p>
            <a:pPr algn="ctr">
              <a:defRPr/>
            </a:pPr>
            <a:endParaRPr lang="en-US" altLang="ko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스터디원 2 : </a:t>
            </a:r>
            <a:r>
              <a:rPr lang="ko-KR" altLang="en-US"/>
              <a:t>전해인</a:t>
            </a:r>
            <a:endParaRPr lang="ko-KR" altLang="en-US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algn="ctr">
              <a:defRPr/>
            </a:pPr>
            <a:r>
              <a:rPr lang="ko"/>
              <a:t>스터디원 3 : </a:t>
            </a:r>
            <a:r>
              <a:rPr lang="ko-KR" altLang="en-US"/>
              <a:t>한종성</a:t>
            </a:r>
            <a:endParaRPr lang="ko-KR" altLang="en-US"/>
          </a:p>
        </p:txBody>
      </p:sp>
      <p:pic>
        <p:nvPicPr>
          <p:cNvPr id="6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932942" y="3661843"/>
            <a:ext cx="2368283" cy="1138756"/>
          </a:xfrm>
          <a:prstGeom prst="rect">
            <a:avLst/>
          </a:prstGeom>
        </p:spPr>
      </p:pic>
      <p:pic>
        <p:nvPicPr>
          <p:cNvPr id="6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886260" y="1132625"/>
            <a:ext cx="2343527" cy="1105749"/>
          </a:xfrm>
          <a:prstGeom prst="rect">
            <a:avLst/>
          </a:prstGeom>
        </p:spPr>
      </p:pic>
      <p:pic>
        <p:nvPicPr>
          <p:cNvPr id="71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914835" y="2369358"/>
            <a:ext cx="2343527" cy="10644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주제 및 데이터 선정</a:t>
            </a:r>
            <a:endParaRPr lang="en-US" altLang="ko-KR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/>
          <p:cNvSpPr txBox="1"/>
          <p:nvPr/>
        </p:nvSpPr>
        <p:spPr>
          <a:xfrm>
            <a:off x="1696819" y="845454"/>
            <a:ext cx="4013101" cy="43085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/>
              <a:t>AI Impact on Jobs 2030 from</a:t>
            </a:r>
            <a:r>
              <a:rPr lang="ko-KR" altLang="en-US" sz="1600"/>
              <a:t> </a:t>
            </a:r>
            <a:r>
              <a:rPr lang="en-US" altLang="ko-KR" sz="1600"/>
              <a:t>MIT</a:t>
            </a:r>
            <a:endParaRPr lang="en-US" altLang="ko-KR" sz="1600"/>
          </a:p>
        </p:txBody>
      </p:sp>
      <p:sp>
        <p:nvSpPr>
          <p:cNvPr id="10" name="TextBox 9"/>
          <p:cNvSpPr txBox="1"/>
          <p:nvPr/>
        </p:nvSpPr>
        <p:spPr>
          <a:xfrm>
            <a:off x="1819642" y="1265025"/>
            <a:ext cx="60746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100">
                <a:latin typeface="+mn-lt"/>
              </a:rPr>
              <a:t>Cols: Job_Title, Average_Salary, Years_Experience, Education_Level, AI_Exposure_Index, Tech_Growth_Factor, Automation_Probability_2030, Risk_Category, Skill_1~10</a:t>
            </a:r>
            <a:endParaRPr lang="en-US" altLang="ko-KR" sz="1100">
              <a:latin typeface="+mn-lt"/>
            </a:endParaRPr>
          </a:p>
          <a:p>
            <a:pPr lvl="0">
              <a:defRPr/>
            </a:pPr>
            <a:endParaRPr lang="en-US" altLang="ko-KR" sz="1100">
              <a:latin typeface="+mn-lt"/>
            </a:endParaRPr>
          </a:p>
          <a:p>
            <a:pPr lvl="0">
              <a:defRPr/>
            </a:pPr>
            <a:r>
              <a:rPr lang="en-US" altLang="ko-KR" sz="1100">
                <a:latin typeface="+mn-lt"/>
              </a:rPr>
              <a:t>Target: Automation_Probability_2030 (</a:t>
            </a:r>
            <a:r>
              <a:rPr lang="ko-KR" altLang="en-US" sz="1100">
                <a:latin typeface="+mn-lt"/>
              </a:rPr>
              <a:t>회귀</a:t>
            </a:r>
            <a:r>
              <a:rPr lang="en-US" altLang="ko-KR" sz="1100">
                <a:latin typeface="+mn-lt"/>
              </a:rPr>
              <a:t>)</a:t>
            </a:r>
            <a:endParaRPr lang="ko-KR" altLang="en-US" sz="1100">
              <a:latin typeface="+mn-lt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27695" y="2285502"/>
            <a:ext cx="7603379" cy="21345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50B1843A-4EB2-018D-6BC3-3EDDFB67052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파이프라인</a:t>
            </a:r>
            <a:endParaRPr lang="en-US" altLang="ko-KR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A09DB-03D2-9CBE-590D-C3040BE504D0}"/>
              </a:ext>
            </a:extLst>
          </p:cNvPr>
          <p:cNvSpPr txBox="1"/>
          <p:nvPr/>
        </p:nvSpPr>
        <p:spPr>
          <a:xfrm>
            <a:off x="2235200" y="1225439"/>
            <a:ext cx="56489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데이터셋 </a:t>
            </a:r>
            <a:r>
              <a:rPr lang="en-US" altLang="ko-KR" sz="1600" dirty="0">
                <a:solidFill>
                  <a:schemeClr val="tx1"/>
                </a:solidFill>
              </a:rPr>
              <a:t>EDA, </a:t>
            </a:r>
            <a:r>
              <a:rPr lang="ko-KR" altLang="en-US" sz="1600" dirty="0" err="1">
                <a:solidFill>
                  <a:schemeClr val="tx1"/>
                </a:solidFill>
              </a:rPr>
              <a:t>전처리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</a:rPr>
              <a:t>머신러닝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학습 및 평가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예측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endParaRPr lang="en-US" altLang="ko-KR" sz="1600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/>
              <a:t>직업별로 </a:t>
            </a:r>
            <a:r>
              <a:rPr lang="en-US" altLang="ko-KR" dirty="0"/>
              <a:t>AI </a:t>
            </a:r>
            <a:r>
              <a:rPr lang="ko-KR" altLang="en-US" dirty="0"/>
              <a:t>노출도</a:t>
            </a:r>
            <a:r>
              <a:rPr lang="en-US" altLang="ko-KR" dirty="0"/>
              <a:t>, </a:t>
            </a:r>
            <a:r>
              <a:rPr lang="ko-KR" altLang="en-US" dirty="0"/>
              <a:t>자동화 가능성이 높은 직무는 어떤 것인지 </a:t>
            </a:r>
            <a:r>
              <a:rPr lang="en-US" altLang="ko-KR" dirty="0"/>
              <a:t>(</a:t>
            </a:r>
            <a:r>
              <a:rPr lang="ko-KR" altLang="en-US" dirty="0"/>
              <a:t>전문직과 사무직의 차이 등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AI</a:t>
            </a:r>
            <a:r>
              <a:rPr lang="ko-KR" altLang="en-US" dirty="0"/>
              <a:t>에 영향을 덜 받는 직업은 어떤 특징을 가지고 있는지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AI </a:t>
            </a:r>
            <a:r>
              <a:rPr lang="ko-KR" altLang="en-US" dirty="0"/>
              <a:t>영향도 기준 클러스터링 및 시각화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AI</a:t>
            </a:r>
            <a:r>
              <a:rPr lang="ko-KR" altLang="en-US" dirty="0"/>
              <a:t>와 일자리의 미래에 관한 다양한 인사이트를 뽑는 게 목적</a:t>
            </a:r>
            <a:endParaRPr lang="en-US" altLang="ko-KR" dirty="0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데이터셋 </a:t>
            </a: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EDA</a:t>
            </a:r>
            <a:endParaRPr lang="en-US" altLang="ko-KR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695448" y="1133475"/>
            <a:ext cx="7124702" cy="22174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b="1"/>
              <a:t>데이터셋 크기 </a:t>
            </a:r>
            <a:r>
              <a:rPr lang="en-US" altLang="ko-KR" b="1"/>
              <a:t>: (3000, 18)</a:t>
            </a:r>
            <a:endParaRPr lang="en-US" altLang="ko-KR" b="1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Job_Title : 20</a:t>
            </a:r>
            <a:r>
              <a:rPr lang="ko-KR" altLang="en-US"/>
              <a:t>종류 </a:t>
            </a:r>
            <a:r>
              <a:rPr lang="en-US" altLang="ko-KR"/>
              <a:t>(</a:t>
            </a:r>
            <a:r>
              <a:rPr lang="ko-KR" altLang="en-US"/>
              <a:t>'Security Guard', 'Research Scientist', 'Construction Worker',</a:t>
            </a:r>
            <a:endParaRPr lang="ko-KR" altLang="en-US"/>
          </a:p>
          <a:p>
            <a:pPr>
              <a:defRPr/>
            </a:pPr>
            <a:r>
              <a:rPr lang="ko-KR" altLang="en-US"/>
              <a:t>                 'Software Engineer', 'Financial Analyst', 'AI Engineer', </a:t>
            </a:r>
            <a:r>
              <a:rPr lang="en-US" altLang="ko-KR"/>
              <a:t>…</a:t>
            </a:r>
            <a:r>
              <a:rPr lang="ko-KR" altLang="en-US"/>
              <a:t>'Marketing Manager'</a:t>
            </a:r>
            <a:r>
              <a:rPr lang="en-US" altLang="ko-KR"/>
              <a:t>)</a:t>
            </a:r>
            <a:endParaRPr lang="en-US" altLang="ko-KR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Education_Level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종류 </a:t>
            </a:r>
            <a:r>
              <a:rPr lang="en-US" altLang="ko-KR"/>
              <a:t>(High_school, Bachelor’s, Master’s, PhD)</a:t>
            </a:r>
            <a:r>
              <a:rPr lang="ko-KR" altLang="en-US"/>
              <a:t> </a:t>
            </a:r>
            <a:r>
              <a:rPr lang="en-US" altLang="ko-KR"/>
              <a:t>(0,1,2,3)</a:t>
            </a:r>
            <a:r>
              <a:rPr lang="ko-KR" altLang="en-US"/>
              <a:t>으로 매핑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Risk_Category </a:t>
            </a:r>
            <a:r>
              <a:rPr lang="en-US" altLang="ko-KR"/>
              <a:t>: 3</a:t>
            </a:r>
            <a:r>
              <a:rPr lang="ko-KR" altLang="en-US"/>
              <a:t>종류 </a:t>
            </a:r>
            <a:r>
              <a:rPr lang="en-US" altLang="ko-KR"/>
              <a:t>(Low 25%, Medium 50%, High 25%)</a:t>
            </a:r>
            <a:r>
              <a:rPr lang="ko-KR" altLang="en-US"/>
              <a:t> </a:t>
            </a:r>
            <a:r>
              <a:rPr lang="en-US" altLang="ko-KR"/>
              <a:t>(0,1,2)</a:t>
            </a:r>
            <a:r>
              <a:rPr lang="ko-KR" altLang="en-US"/>
              <a:t>로 매핑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 결측치 </a:t>
            </a:r>
            <a:r>
              <a:rPr lang="en-US" altLang="ko-KR"/>
              <a:t>X, 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시각화</a:t>
            </a:r>
            <a:endParaRPr lang="ko-KR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41246" y="1455413"/>
            <a:ext cx="4334452" cy="3527826"/>
          </a:xfrm>
          <a:prstGeom prst="rect">
            <a:avLst/>
          </a:prstGeom>
        </p:spPr>
      </p:pic>
      <p:sp>
        <p:nvSpPr>
          <p:cNvPr id="86" name=""/>
          <p:cNvSpPr txBox="1"/>
          <p:nvPr/>
        </p:nvSpPr>
        <p:spPr>
          <a:xfrm>
            <a:off x="1558352" y="945777"/>
            <a:ext cx="2529591" cy="33189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1600" b="1"/>
              <a:t>Numerical Features</a:t>
            </a:r>
            <a:endParaRPr lang="en-US" altLang="ko-KR" sz="1600" b="1"/>
          </a:p>
        </p:txBody>
      </p:sp>
      <p:sp>
        <p:nvSpPr>
          <p:cNvPr id="88" name=""/>
          <p:cNvSpPr txBox="1"/>
          <p:nvPr/>
        </p:nvSpPr>
        <p:spPr>
          <a:xfrm>
            <a:off x="6419850" y="1766887"/>
            <a:ext cx="2724150" cy="201263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중앙값(median)이 대부분 0.45~0.55 근처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IQR(박스 높이)도 거의 동일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whisker 길이도 유사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극단적인 이상치(outlier) 거의 없음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시각화</a:t>
            </a:r>
            <a:endParaRPr lang="ko-KR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558352" y="945777"/>
            <a:ext cx="2529591" cy="33189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1600" b="1"/>
              <a:t>Numerical Features</a:t>
            </a:r>
            <a:endParaRPr lang="en-US" altLang="ko-KR" sz="1600" b="1"/>
          </a:p>
        </p:txBody>
      </p:sp>
      <p:pic>
        <p:nvPicPr>
          <p:cNvPr id="8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59655" y="1426822"/>
            <a:ext cx="4570839" cy="3373153"/>
          </a:xfrm>
          <a:prstGeom prst="rect">
            <a:avLst/>
          </a:prstGeom>
        </p:spPr>
      </p:pic>
      <p:sp>
        <p:nvSpPr>
          <p:cNvPr id="88" name=""/>
          <p:cNvSpPr txBox="1"/>
          <p:nvPr/>
        </p:nvSpPr>
        <p:spPr>
          <a:xfrm>
            <a:off x="6753225" y="2336958"/>
            <a:ext cx="1790700" cy="115538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이상치 </a:t>
            </a:r>
            <a:r>
              <a:rPr lang="en-US" altLang="ko-KR"/>
              <a:t>X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정규분포 </a:t>
            </a:r>
            <a:r>
              <a:rPr lang="en-US" altLang="ko-KR"/>
              <a:t>X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스케일 정규화 </a:t>
            </a:r>
            <a:r>
              <a:rPr lang="en-US" altLang="ko-KR"/>
              <a:t>X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"/>
          <p:cNvSpPr txBox="1"/>
          <p:nvPr/>
        </p:nvSpPr>
        <p:spPr>
          <a:xfrm>
            <a:off x="1558352" y="945777"/>
            <a:ext cx="2529591" cy="338193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Heatmap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07616" y="1400828"/>
            <a:ext cx="5481042" cy="3625216"/>
          </a:xfrm>
          <a:prstGeom prst="rect">
            <a:avLst/>
          </a:prstGeom>
        </p:spPr>
      </p:pic>
      <p:sp>
        <p:nvSpPr>
          <p:cNvPr id="85" name="Google Shape;75;p15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시각화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0" cap="none" spc="0" normalizeH="0" baseline="0" mc:Ignorable="hp" hp:hslEmbossed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비모수 검정</a:t>
            </a:r>
            <a:endParaRPr lang="ko-KR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495423" y="1062037"/>
            <a:ext cx="7000878" cy="179355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[가설 1~3]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Average_Salary가 높을수록 Years_Experience, Education_Level이 높을 것이다.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Tech_Growth_Factor가 많을수록 AI_Exposure_Index, Automation_Probability_2030가 높을 것이다.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AI_Exposure_Index가 높을수록(1이면) Automation_Probability_2030가 높을 것이다.</a:t>
            </a:r>
            <a:endParaRPr lang="ko-KR" altLang="en-US"/>
          </a:p>
        </p:txBody>
      </p:sp>
      <p:pic>
        <p:nvPicPr>
          <p:cNvPr id="8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223706" y="3262221"/>
            <a:ext cx="5458586" cy="1305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비모수 검정</a:t>
            </a:r>
            <a:endParaRPr lang="ko-KR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71074" y="1500059"/>
            <a:ext cx="5801851" cy="1322027"/>
          </a:xfrm>
          <a:prstGeom prst="rect">
            <a:avLst/>
          </a:prstGeom>
        </p:spPr>
      </p:pic>
      <p:sp>
        <p:nvSpPr>
          <p:cNvPr id="86" name=""/>
          <p:cNvSpPr txBox="1"/>
          <p:nvPr/>
        </p:nvSpPr>
        <p:spPr>
          <a:xfrm>
            <a:off x="1558352" y="945777"/>
            <a:ext cx="2529591" cy="338193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스피어만 상관 분석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704973" y="2986087"/>
            <a:ext cx="6743701" cy="201263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[결론]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Average_Salary가 높을수록 Years_Experience, Education_Level이 높지는 않다.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Tech_Growth_Factor가 많을수록 AI_Exposure_Index, Automation_Probability_2030가 높지는 않다.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AI_Exposure_Index가 높을수록(1이면) Automation_Probability_2030가 높지는 않다.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비모수 검정</a:t>
            </a:r>
            <a:endParaRPr lang="ko-KR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558352" y="945777"/>
            <a:ext cx="4129791" cy="338193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스피어만 상관 분석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(Job_Title)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704975" y="1319212"/>
            <a:ext cx="5600699" cy="51720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직업마다 특성이 다르다보니까 그런 결과가 나온 거 아닐까?</a:t>
            </a:r>
            <a:endParaRPr lang="ko-KR" altLang="en-US"/>
          </a:p>
          <a:p>
            <a:pPr>
              <a:defRPr/>
            </a:pPr>
            <a:r>
              <a:rPr lang="ko-KR" altLang="en-US"/>
              <a:t>-&gt; 직업마다 따로 그룹핑해서 다시 가설검정</a:t>
            </a:r>
            <a:endParaRPr lang="ko-KR" altLang="en-US"/>
          </a:p>
        </p:txBody>
      </p:sp>
      <p:pic>
        <p:nvPicPr>
          <p:cNvPr id="9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42680" y="2224024"/>
            <a:ext cx="5658639" cy="905001"/>
          </a:xfrm>
          <a:prstGeom prst="rect">
            <a:avLst/>
          </a:prstGeom>
        </p:spPr>
      </p:pic>
      <p:sp>
        <p:nvSpPr>
          <p:cNvPr id="97" name=""/>
          <p:cNvSpPr txBox="1"/>
          <p:nvPr/>
        </p:nvSpPr>
        <p:spPr>
          <a:xfrm>
            <a:off x="1704972" y="3148012"/>
            <a:ext cx="6029326" cy="51720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Customer Support와 Doctor는 연봉과 교육 수준 간의 상관관계가 있음</a:t>
            </a:r>
            <a:endParaRPr lang="ko-KR" altLang="en-US"/>
          </a:p>
          <a:p>
            <a:pPr>
              <a:defRPr/>
            </a:pPr>
            <a:r>
              <a:rPr lang="ko-KR" altLang="en-US"/>
              <a:t>Doctor가 음의 상관관계 (rho 값이 음수) -&gt; 보편적인 상식과는 다름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비모수 검정</a:t>
            </a:r>
            <a:endParaRPr lang="ko-KR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558352" y="945777"/>
            <a:ext cx="2529591" cy="338193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스피어만 상관 분석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18082" y="1580840"/>
            <a:ext cx="6554366" cy="762309"/>
          </a:xfrm>
          <a:prstGeom prst="rect">
            <a:avLst/>
          </a:prstGeom>
        </p:spPr>
      </p:pic>
      <p:sp>
        <p:nvSpPr>
          <p:cNvPr id="89" name=""/>
          <p:cNvSpPr txBox="1"/>
          <p:nvPr/>
        </p:nvSpPr>
        <p:spPr>
          <a:xfrm>
            <a:off x="1619249" y="2571750"/>
            <a:ext cx="6534151" cy="94583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Lawyer와 Truck Driver는 AI_Exposure_Index와 Automation_Probability_2030 간 상관관계가 있음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Truck Driver는 음의 상관관계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클러스터링</a:t>
            </a:r>
            <a:endParaRPr lang="ko-KR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58417" y="1008285"/>
            <a:ext cx="1987770" cy="3625065"/>
          </a:xfrm>
          <a:prstGeom prst="rect">
            <a:avLst/>
          </a:prstGeom>
        </p:spPr>
      </p:pic>
      <p:sp>
        <p:nvSpPr>
          <p:cNvPr id="85" name=""/>
          <p:cNvSpPr txBox="1"/>
          <p:nvPr/>
        </p:nvSpPr>
        <p:spPr>
          <a:xfrm>
            <a:off x="3405187" y="1983105"/>
            <a:ext cx="1971676" cy="9410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각 직업마다 </a:t>
            </a:r>
            <a:r>
              <a:rPr lang="en-US" altLang="ko-KR"/>
              <a:t>클러스터 0과 2</a:t>
            </a:r>
            <a:r>
              <a:rPr lang="ko-KR" altLang="en-US"/>
              <a:t>의 비율이</a:t>
            </a:r>
            <a:r>
              <a:rPr lang="en-US" altLang="ko-KR"/>
              <a:t> 비슷한 경우가 많음</a:t>
            </a:r>
            <a:endParaRPr lang="en-US" altLang="ko-KR"/>
          </a:p>
          <a:p>
            <a:pPr>
              <a:defRPr/>
            </a:pPr>
            <a:r>
              <a:rPr lang="en-US" altLang="ko-KR"/>
              <a:t>-&gt; k=2</a:t>
            </a:r>
            <a:r>
              <a:rPr lang="ko-KR" altLang="en-US"/>
              <a:t>로 변경</a:t>
            </a:r>
            <a:endParaRPr lang="ko-KR" altLang="en-US"/>
          </a:p>
        </p:txBody>
      </p:sp>
      <p:pic>
        <p:nvPicPr>
          <p:cNvPr id="86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608305" y="896939"/>
            <a:ext cx="1664661" cy="3709359"/>
          </a:xfrm>
          <a:prstGeom prst="rect">
            <a:avLst/>
          </a:prstGeom>
        </p:spPr>
      </p:pic>
      <p:sp>
        <p:nvSpPr>
          <p:cNvPr id="87" name=""/>
          <p:cNvSpPr txBox="1"/>
          <p:nvPr/>
        </p:nvSpPr>
        <p:spPr>
          <a:xfrm>
            <a:off x="7391399" y="1994058"/>
            <a:ext cx="3162300" cy="1155383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0 : 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전문직/연구/기술/IT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1 : 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현장/서비스직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클러스터링</a:t>
            </a:r>
            <a:endParaRPr lang="ko-KR" altLang="en-US"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09277" y="1352379"/>
            <a:ext cx="4952958" cy="1881242"/>
          </a:xfrm>
          <a:prstGeom prst="rect">
            <a:avLst/>
          </a:prstGeom>
        </p:spPr>
      </p:pic>
      <p:sp>
        <p:nvSpPr>
          <p:cNvPr id="89" name=""/>
          <p:cNvSpPr txBox="1"/>
          <p:nvPr/>
        </p:nvSpPr>
        <p:spPr>
          <a:xfrm>
            <a:off x="1558352" y="945777"/>
            <a:ext cx="4787016" cy="338193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두 집단의 경향성 확인 (Mann-Whitney U test)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624896" y="2500130"/>
            <a:ext cx="4906988" cy="70531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1" name=""/>
          <p:cNvSpPr txBox="1"/>
          <p:nvPr/>
        </p:nvSpPr>
        <p:spPr>
          <a:xfrm>
            <a:off x="1585912" y="3576636"/>
            <a:ext cx="5972174" cy="51720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b="1"/>
              <a:t>현장/서비스 직무가 기술 성장에 따른 영향을 직접적으로 받으며, </a:t>
            </a:r>
            <a:endParaRPr lang="ko-KR" altLang="en-US" b="1"/>
          </a:p>
          <a:p>
            <a:pPr>
              <a:defRPr/>
            </a:pPr>
            <a:r>
              <a:rPr lang="ko-KR" altLang="en-US" b="1"/>
              <a:t>향후 자동화 대체 위험이 높다</a:t>
            </a:r>
            <a:endParaRPr lang="ko-KR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/>
          <p:cNvSpPr txBox="1"/>
          <p:nvPr/>
        </p:nvSpPr>
        <p:spPr>
          <a:xfrm>
            <a:off x="4177991" y="2143144"/>
            <a:ext cx="2168746" cy="53319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lang="ko-KR" altLang="en-US" sz="2000" b="1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299</ep:Words>
  <ep:PresentationFormat>화면 슬라이드 쇼(16:9)</ep:PresentationFormat>
  <ep:Paragraphs>71</ep:Paragraphs>
  <ep:Slides>15</ep:Slides>
  <ep:Notes>15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Suin Shin</dc:creator>
  <cp:lastModifiedBy>js</cp:lastModifiedBy>
  <dcterms:modified xsi:type="dcterms:W3CDTF">2026-01-15T08:24:55.505</dcterms:modified>
  <cp:revision>44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