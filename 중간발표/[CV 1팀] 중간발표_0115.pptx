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anum Gothic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YJX86n2/kMYfIguohGUHpzIsN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anumGothic-regular.fntdata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font" Target="fonts/NanumGothi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b00f5af5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ab00f5af5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1F1F1F"/>
                </a:solidFill>
              </a:rPr>
              <a:t>안면인식 시스템은 현재 공항 출입국 관리와 수사 등 고위험 영역에 광범위하게 도입되어 있습니다. 그러나 기술적 오류가 특정 인종과 성별에 집중되면서 심각한 사회적 부작용을 낳고 있습니다.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1F1F1F"/>
                </a:solidFill>
              </a:rPr>
              <a:t>실제 사례로, 미국 미시간주에서는 인공지능의 오판만으로 흑인 여성이 차량 절도범으로 몰려 억울하게 구금되는 사건이 발생했습니다. 당시 알고리즘은 8년 전 머그샷과 저화질 CCTV 영상을 근거 없이 유사하다고 판정하며 기술적 한계를 드러냈습니다.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rgbClr val="1F1F1F"/>
                </a:solidFill>
              </a:rPr>
              <a:t>학술적으로는 Gender Shades 연구를 통해 이러한 편향성이 입증되었습니다. 분석 결과, 밝은 피부 남성의 오류율은 1% 미만이었으나, 어두운 피부 여성의 오류율은 최대 34.7%까지 급증했습니다. 이는 안면인식 기술이 사회적 편견을 재생산하고 있음을 보여주며, 본 연구는 이러한 편향이 심화되는 저조도 환경을 개선하고자 합니다.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4583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56ec65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ba56ec65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1F1F1F"/>
                </a:solidFill>
              </a:rPr>
              <a:t>기존 모델의 인종과 성별에 대한 편향을 확인하기 위해 ResNet18을 사용한 실험 결과입니다. Baseline 모델은 밝기를 낮춘 저조도 환경에서 얼굴 구조 대신 배경이나 머리카락 등 주변 패턴에 의존하는 Accuracy Bubble 현상을 보였습니다. 이로 인해 여성 그룹의 정확도는 96.7%로 비정상적으로 높았으나, 남성 그룹은 20%대에 그치는 극단적 편향을 보였습니다.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1F1F1F"/>
                </a:solidFill>
              </a:rPr>
              <a:t>반면, Gradient Reversal Layer를 적용한 제안 모델은 인종 의존도를 낮춤으로써 남성 그룹의 정확도를 최대 73.3%까지 회복하고 집단 간 격차를 대폭 완화했습니다.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1F1F1F"/>
                </a:solidFill>
              </a:rPr>
              <a:t>이 과정에서 흑인 여성의 정확도가 46.7%로 하락한 것은, 기존의 편향된 거품이 제거된 뒤 남은 정직한 실력이 드러난 결과입니다. Grad-CAM 분석 결과, 제안 모델은 주변 패턴이 아닌 실제 얼굴 윤곽에 집중하며 판단 근거를 교정했음을 확인했습니다.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4583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a56ec65f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ba56ec65f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1F1F1F"/>
                </a:solidFill>
              </a:rPr>
              <a:t>기존 모델의 인종과 성별에 대한 편향을 확인하기 위해 ResNet18을 사용한 실험 결과입니다. Baseline 모델은 밝기를 낮춘 저조도 환경에서 얼굴 구조 대신 배경이나 머리카락 등 주변 패턴에 의존하는 Accuracy Bubble 현상을 보였습니다. 이로 인해 여성 그룹의 정확도는 96.7%로 비정상적으로 높았으나, 남성 그룹은 20%대에 그치는 극단적 편향을 보였습니다.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1F1F1F"/>
                </a:solidFill>
              </a:rPr>
              <a:t>반면, Gradient Reversal Layer를 적용한 제안 모델은 인종 의존도를 낮춤으로써 남성 그룹의 정확도를 최대 73.3%까지 회복하고 집단 간 격차를 대폭 완화했습니다.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1F1F1F"/>
                </a:solidFill>
              </a:rPr>
              <a:t>이 과정에서 흑인 여성의 정확도가 46.7%로 하락한 것은, 기존의 편향된 거품이 제거된 뒤 남은 정직한 실력이 드러난 결과입니다. Grad-CAM 분석 결과, 제안 모델은 주변 패턴이 아닌 실제 얼굴 윤곽에 집중하며 판단 근거를 교정했음을 확인했습니다.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4583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0c4636b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9f0c4636b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339750" y="2710050"/>
            <a:ext cx="4979400" cy="1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ko" sz="25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CUAI 동계 컨퍼런스 CV 1팀</a:t>
            </a:r>
            <a:endParaRPr b="1" i="0" sz="25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ko">
                <a:solidFill>
                  <a:srgbClr val="19264B"/>
                </a:solidFill>
              </a:rPr>
              <a:t>6.01</a:t>
            </a:r>
            <a:r>
              <a:rPr b="0" i="0" lang="ko" sz="14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ko">
                <a:solidFill>
                  <a:srgbClr val="19264B"/>
                </a:solidFill>
              </a:rPr>
              <a:t>15</a:t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발표자 : </a:t>
            </a:r>
            <a:r>
              <a:rPr lang="ko" sz="1100">
                <a:solidFill>
                  <a:srgbClr val="19264B"/>
                </a:solidFill>
              </a:rPr>
              <a:t>김형석</a:t>
            </a:r>
            <a:endParaRPr b="0" i="0" sz="11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1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g3ab00f5af53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ab00f5af53_0_8"/>
          <p:cNvSpPr txBox="1"/>
          <p:nvPr/>
        </p:nvSpPr>
        <p:spPr>
          <a:xfrm>
            <a:off x="1606850" y="4204575"/>
            <a:ext cx="72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ab00f5af53_0_8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문제 및 연구 목표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67" name="Google Shape;67;g3ab00f5af53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450" y="1591336"/>
            <a:ext cx="2873937" cy="311971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ab00f5af53_0_8"/>
          <p:cNvSpPr txBox="1"/>
          <p:nvPr/>
        </p:nvSpPr>
        <p:spPr>
          <a:xfrm>
            <a:off x="5082000" y="2504750"/>
            <a:ext cx="40620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13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상용 시스템은 백인 남성 대비 </a:t>
            </a:r>
            <a:r>
              <a:rPr b="1" i="0" lang="ko" sz="13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흑인 여성</a:t>
            </a:r>
            <a:r>
              <a:rPr b="0" i="0" lang="ko" sz="13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에 대한 오류율이 최대</a:t>
            </a:r>
            <a:r>
              <a:rPr b="1" i="0" lang="ko" sz="13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 34.7%</a:t>
            </a:r>
            <a:r>
              <a:rPr b="0" i="0" lang="ko" sz="13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까지 치솟는 ‘교차 집단(Intersectional group)’의 한계 존재</a:t>
            </a:r>
            <a:endParaRPr b="0" i="0" sz="13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13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특히 저조도(Dark CCTV) 환경에서 모델이 얼굴 구조 대신 배경이나 머리카락 같은 주변 패턴에 의존하는 Accuracy Bubble 현상이 존재함</a:t>
            </a:r>
            <a:endParaRPr b="0" i="0" sz="13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g3ab00f5af53_0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2225" y="838850"/>
            <a:ext cx="4094476" cy="12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ab00f5af53_0_8"/>
          <p:cNvSpPr txBox="1"/>
          <p:nvPr/>
        </p:nvSpPr>
        <p:spPr>
          <a:xfrm>
            <a:off x="1493100" y="902900"/>
            <a:ext cx="3588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안면인식 알고리즘의 판독 오류로 </a:t>
            </a:r>
            <a:endParaRPr b="0" i="0" sz="13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무고한 흑인 여성이 구금되는 인권 침해 발생</a:t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a56ec65f1_0_0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g3ba56ec65f1_0_0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7" name="Google Shape;77;g3ba56ec65f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ba56ec65f1_0_0"/>
          <p:cNvSpPr txBox="1"/>
          <p:nvPr/>
        </p:nvSpPr>
        <p:spPr>
          <a:xfrm>
            <a:off x="1606850" y="4204575"/>
            <a:ext cx="72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ba56ec65f1_0_0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진행 상황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0" name="Google Shape;80;g3ba56ec65f1_0_0"/>
          <p:cNvSpPr txBox="1"/>
          <p:nvPr/>
        </p:nvSpPr>
        <p:spPr>
          <a:xfrm>
            <a:off x="1408975" y="1153225"/>
            <a:ext cx="74955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인종 성별 분류 -&gt; 안면 인식 </a:t>
            </a:r>
            <a:br>
              <a:rPr lang="ko" sz="1300">
                <a:solidFill>
                  <a:schemeClr val="dk1"/>
                </a:solidFill>
              </a:rPr>
            </a:br>
            <a:r>
              <a:rPr lang="ko" sz="1300">
                <a:solidFill>
                  <a:schemeClr val="dk1"/>
                </a:solidFill>
              </a:rPr>
              <a:t>엣지 CCTV에서 저조도 + 공정성(흑인 여성) + 실시간을 잡자는 주제로 확장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데이터셋 -&gt; 어둡게 노이즈 처리(RealSim Noise) -&gt; Tiny-DCE로 구별하기 쉽게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RFW DATASET 비공개 데이터셋 확보 : 인종 및 같은 사람에 대한 라벨링이 되어있는 데이터셋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CCTV상에서 돌아가기 때문에 Zero-DCE++ 대신에 새로운 아키텍처 제안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Zero-DCE++의 </a:t>
            </a:r>
            <a:r>
              <a:rPr b="1" lang="ko" sz="1300">
                <a:solidFill>
                  <a:schemeClr val="dk1"/>
                </a:solidFill>
              </a:rPr>
              <a:t>7-Layer, 32-Channel 구조</a:t>
            </a:r>
            <a:r>
              <a:rPr lang="ko" sz="1300">
                <a:solidFill>
                  <a:schemeClr val="dk1"/>
                </a:solidFill>
              </a:rPr>
              <a:t>를 </a:t>
            </a:r>
            <a:r>
              <a:rPr b="1" lang="ko" sz="1300">
                <a:solidFill>
                  <a:schemeClr val="dk1"/>
                </a:solidFill>
              </a:rPr>
              <a:t>3-Layer, 16-Channel</a:t>
            </a:r>
            <a:r>
              <a:rPr lang="ko" sz="1300">
                <a:solidFill>
                  <a:schemeClr val="dk1"/>
                </a:solidFill>
              </a:rPr>
              <a:t>로 경량화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Zero-DCE++ (112×112)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  FLOPs: 0.135676 G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  Params: 0.011299 M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  FLOPs는 약 7.95배 감소 (0.135676 / 0.017060 ≈ 7.95)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  파라미터는 약 7.8배 감소 (0.011299 / 0.001448 ≈ 7.80)</a:t>
            </a:r>
            <a:r>
              <a:rPr lang="ko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81" name="Google Shape;81;g3ba56ec65f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6900" y="0"/>
            <a:ext cx="1427350" cy="14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ba56ec65f1_0_0"/>
          <p:cNvSpPr txBox="1"/>
          <p:nvPr/>
        </p:nvSpPr>
        <p:spPr>
          <a:xfrm>
            <a:off x="3388375" y="3343825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 Tiny-DCE (112×112)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  FLOPs: 0.017060 G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  Params: 0.001448 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a56ec65f1_0_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g3ba56ec65f1_0_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9" name="Google Shape;89;g3ba56ec65f1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ba56ec65f1_0_13"/>
          <p:cNvSpPr txBox="1"/>
          <p:nvPr/>
        </p:nvSpPr>
        <p:spPr>
          <a:xfrm>
            <a:off x="1606850" y="4204575"/>
            <a:ext cx="72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ba56ec65f1_0_13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향후 계획 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2" name="Google Shape;92;g3ba56ec65f1_0_13"/>
          <p:cNvSpPr txBox="1"/>
          <p:nvPr/>
        </p:nvSpPr>
        <p:spPr>
          <a:xfrm>
            <a:off x="1408975" y="1153225"/>
            <a:ext cx="74955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무거운 </a:t>
            </a:r>
            <a:r>
              <a:rPr lang="ko" sz="1300">
                <a:solidFill>
                  <a:schemeClr val="dk1"/>
                </a:solidFill>
              </a:rPr>
              <a:t>RESNET18 </a:t>
            </a:r>
            <a:r>
              <a:rPr lang="ko" sz="1300">
                <a:solidFill>
                  <a:schemeClr val="dk1"/>
                </a:solidFill>
              </a:rPr>
              <a:t>대신에 엣지디바이스 최적화를 위해  </a:t>
            </a:r>
            <a:r>
              <a:rPr lang="ko" sz="1300">
                <a:solidFill>
                  <a:schemeClr val="dk1"/>
                </a:solidFill>
              </a:rPr>
              <a:t>MobileFaceNet</a:t>
            </a:r>
            <a:r>
              <a:rPr lang="ko" sz="1300">
                <a:solidFill>
                  <a:schemeClr val="dk1"/>
                </a:solidFill>
              </a:rPr>
              <a:t>과 </a:t>
            </a:r>
            <a:r>
              <a:rPr lang="ko" sz="1300">
                <a:solidFill>
                  <a:schemeClr val="dk1"/>
                </a:solidFill>
              </a:rPr>
              <a:t>ArcFace</a:t>
            </a:r>
            <a:r>
              <a:rPr lang="ko" sz="1300">
                <a:solidFill>
                  <a:schemeClr val="dk1"/>
                </a:solidFill>
              </a:rPr>
              <a:t>를 사용</a:t>
            </a:r>
            <a:r>
              <a:rPr lang="ko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Tiny-DCE Baseline 구축 </a:t>
            </a:r>
            <a:r>
              <a:rPr lang="ko" sz="1300">
                <a:solidFill>
                  <a:schemeClr val="dk1"/>
                </a:solidFill>
              </a:rPr>
              <a:t>계획 </a:t>
            </a:r>
            <a:r>
              <a:rPr lang="ko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Raw (dce 모델 사용 x ) -&gt; 정확도 매우 낮음 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Zero-dce ++ -&gt; 정확도가 가장 높아야 정상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Tiny-dce -&gt; 정확도가 소폭 감소했지만 비슷한 성능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Tiny-DCE</a:t>
            </a:r>
            <a:r>
              <a:rPr lang="ko" sz="1300">
                <a:solidFill>
                  <a:schemeClr val="dk1"/>
                </a:solidFill>
              </a:rPr>
              <a:t>로 밝게 만드는 과정에서 어두울수록 가중치를 부여하여 Feature를 강하게 훈련 시 보정 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실제 결과를 낼 수 있도록 목표  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93" name="Google Shape;93;g3ba56ec65f1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7125" y="79825"/>
            <a:ext cx="1427350" cy="14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f0c4636bd_0_57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g39f0c4636bd_0_57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0" name="Google Shape;100;g39f0c4636bd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9f0c4636bd_0_57"/>
          <p:cNvSpPr txBox="1"/>
          <p:nvPr/>
        </p:nvSpPr>
        <p:spPr>
          <a:xfrm>
            <a:off x="3810000" y="2217750"/>
            <a:ext cx="2373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ko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