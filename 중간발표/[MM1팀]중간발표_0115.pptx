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3"/>
  </p:notesMasterIdLst>
  <p:sldIdLst>
    <p:sldId id="256" r:id="rId5"/>
    <p:sldId id="257" r:id="rId6"/>
    <p:sldId id="278" r:id="rId7"/>
    <p:sldId id="259" r:id="rId8"/>
    <p:sldId id="279" r:id="rId9"/>
    <p:sldId id="280" r:id="rId10"/>
    <p:sldId id="281" r:id="rId11"/>
    <p:sldId id="277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26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573F60-7B9C-481F-8EA8-770A838E5D49}" v="38" dt="2025-07-07T11:48:30.6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8707" autoAdjust="0"/>
  </p:normalViewPr>
  <p:slideViewPr>
    <p:cSldViewPr snapToGrid="0">
      <p:cViewPr varScale="1">
        <p:scale>
          <a:sx n="113" d="100"/>
          <a:sy n="113" d="100"/>
        </p:scale>
        <p:origin x="150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안녕하십니까 동계 컨퍼런스 </a:t>
            </a:r>
            <a:r>
              <a:rPr lang="en-US" altLang="ko-KR" dirty="0"/>
              <a:t>MM1</a:t>
            </a:r>
            <a:r>
              <a:rPr lang="ko-KR" altLang="en-US" dirty="0"/>
              <a:t>팀 중간 발표를 맡은 </a:t>
            </a:r>
            <a:r>
              <a:rPr lang="ko-KR" altLang="en-US" dirty="0" err="1"/>
              <a:t>이채린입니다</a:t>
            </a:r>
            <a:r>
              <a:rPr lang="en-US" altLang="ko-KR" dirty="0"/>
              <a:t>.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먼저 프로젝트원 소개입니다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저희 팀은 김성민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나준원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그리고 저 </a:t>
            </a:r>
            <a:r>
              <a:rPr lang="ko-KR" alt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이채린으로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구성되어 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D8C13740-013C-1ACD-2C1A-BC5510307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D5E80DEE-03C1-7DA6-1047-A969D9A747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8ADBAA3B-29BF-211E-1985-2A3DDD7C5E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주제 소개입니다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현재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text-to-image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혹은 이미지 편집 생성 모델들은 전반적인 이미지 품질은 매우 뛰어나지만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이미지 안에 포함된 텍스트를 정확하게 생성하는 데에는 여전히 큰 한계가 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특히 한국어처럼 획 구조가 복잡하고 문자 단위 조합이 중요한 언어에서는 정확도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가독성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배경과의 일관성이 동시에 무너지는 문제가 자주 발생합니다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저희 연구의 목표는 이러한 문제를 체계적으로 분석하고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한국어 장면 텍스트에 대해서도 안정적인 성능을 확보하는 것입니다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이를 위해 저희는 “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FLUX-Text: A Simple and Advanced Diffusion Transformer Baseline for Scene Text Editing”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논문을 기반으로 연구를 진행하고 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1774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그렇다면 왜 장면 텍스트 편집이 어려운지 문제 정의부터 살펴보겠습니다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diffusion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모델은 기본적으로 배경이나 전반적인 질감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구조는 매우 잘 생성합니다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하지만 텍스트는 이미지 전체에서 차지하는 면적이 작기 때문에 학습 과정에서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gradient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가 쉽게 희석됩니다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그 결과 배경은 자연스러운데 글자는 흐릿하거나 철자가 틀리는 문제가 발생합니다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또한 기존의 텍스트 조건 인코더인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T5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나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CLIP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은 텍스트의 의미는 잘 이해하지만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글자의 시각적 형태나 획 구조에 대해서는 원리적으로 알 수 없습니다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기존 해결책으로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glyph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나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ControlNet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기반 방법들이 제안되었지만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대부분 모델이 무겁고 학습 비용이 크며 대규모 라벨 데이터가 필요하다는 단점이 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5E7D8BC5-B90B-992C-10C6-572FBADA8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D04C8B86-3EBE-F27C-D7B0-DF23ECB33E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B27962E0-7791-E96B-7BB7-A5CC509172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이러한 배경에서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FLUX-Text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의 핵심 아이디어가 등장합니다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 슬라이드는 논문의 핵심 구조를 한 장으로 요약한 그림입니다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FLUX-Text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는 기본적으로 </a:t>
            </a:r>
            <a:r>
              <a:rPr lang="en-US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DiT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즉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Diffusion Transformer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구조를 사용합니다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입력 이미지는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VAE</a:t>
            </a:r>
            <a:r>
              <a:rPr lang="ko-KR" alt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를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통해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latent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공간으로 변환되고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여기에 세 가지 조건이 결합됩니다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첫 번째는 텍스트가 들어갈 위치를 나타내는 마스크와 위치 정보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두 번째는 실제 글자의 모양을 담은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glyph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이미지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그리고 세 번째는 장면의 의미를 전달하는 텍스트 프롬프트입니다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중요한 점은 의미와 형태를 명확히 분리한다는 것입니다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텍스트의 의미는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T5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텍스트 인코더가 담당하고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글자의 시각적 형태는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glyph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이미지를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VAE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로 직접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latent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로 변환해 주입합니다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이를 통해 추가적인 복잡한 네트워크 없이도 글자 구조 정보를 자연스럽게 모델에 전달할 수 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19674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1AADC21D-028F-300D-0236-D28C72BFC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D48EB5F9-1BE4-CFFE-B0EC-052A335832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750446C8-90EF-40B8-F6A4-8039DB6DBB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이러한 설계 덕분에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FLUX-Text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는 기존 방법들과 비교했을 때 매우 인상적인 성능을 보여줍니다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 표는 영어와 중국어 데이터셋에서의 정량적 비교 결과인데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FLUX-Text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는 기존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AnyText2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나 </a:t>
            </a:r>
            <a:r>
              <a:rPr lang="en-US" altLang="ko-KR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TextDiffuser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계열보다 더 높은 텍스트 정확도와 더 낮은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FID, LPIPS</a:t>
            </a:r>
            <a:r>
              <a:rPr lang="ko-KR" alt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를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기록합니다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특히 주목할 점은 약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100K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수준의 학습 데이터만 사용했음에도 불구하고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SOTA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성능을 달성했다는 점입니다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이는 한국어처럼 데이터 확보가 어려운 언어에도 충분히 확장 가능성이 있음을 시사합니다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9163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3C0250DD-A352-F01A-792B-E971E491B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5BEF13BC-1DD3-78A5-0493-A520F91BAF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9DB3E6E0-1CE4-64EA-33E6-278D1644E4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이제 저희 연구 목표에 대해 말씀드리겠습니다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저희 팀은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FLUX-Text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구조를 그대로 이해하고 재현하는 데서 그치지 않고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이를 한국어 장면 텍스트 편집 문제에 적용하는 것을 목표로 하고 있습니다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구체적으로는 입력으로 이미지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텍스트 영역 마스크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그리고 한국어 텍스트를 받아서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배경은 유지하면서 텍스트만 정확하게 편집된 이미지를 생성하는 것이 목표입니다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현재는 한국어 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glyph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생성 방식과 데이터셋 구성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그리고 기존 영어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·</a:t>
            </a:r>
            <a:r>
              <a:rPr lang="ko-KR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중국어 설정을 한국어에 맞게 조정하는 부분을 중심으로 연구를 진행 중입니다</a:t>
            </a:r>
            <a:r>
              <a:rPr lang="en-US" altLang="ko-K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45516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FCBDEB0A-C772-348F-AF81-0DA5E0E0A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23B23B72-F599-505C-FC29-4F86ECBBF6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51E07B03-2FC8-03AD-7677-06BA6AB23C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12957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-13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349275" y="2995800"/>
            <a:ext cx="6846988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ko-KR" altLang="en-US" sz="2500" b="1" dirty="0">
                <a:solidFill>
                  <a:srgbClr val="19264B"/>
                </a:solidFill>
              </a:rPr>
              <a:t>동계</a:t>
            </a:r>
            <a:r>
              <a:rPr lang="en-US" altLang="ko" sz="2500" b="1" dirty="0">
                <a:solidFill>
                  <a:srgbClr val="19264B"/>
                </a:solidFill>
              </a:rPr>
              <a:t> Conference MM </a:t>
            </a:r>
            <a:r>
              <a:rPr lang="en-US" altLang="ko-KR" sz="2500" b="1" dirty="0">
                <a:solidFill>
                  <a:srgbClr val="19264B"/>
                </a:solidFill>
              </a:rPr>
              <a:t>1</a:t>
            </a:r>
            <a:r>
              <a:rPr lang="ko-KR" altLang="en-US" sz="2500" b="1" dirty="0">
                <a:solidFill>
                  <a:srgbClr val="19264B"/>
                </a:solidFill>
              </a:rPr>
              <a:t>팀 중간 발표</a:t>
            </a:r>
            <a:endParaRPr lang="en-US" altLang="ko-KR"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-KR" dirty="0">
                <a:solidFill>
                  <a:srgbClr val="19264B"/>
                </a:solidFill>
              </a:rPr>
              <a:t>6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-KR" dirty="0">
                <a:solidFill>
                  <a:srgbClr val="19264B"/>
                </a:solidFill>
              </a:rPr>
              <a:t>1</a:t>
            </a:r>
            <a:r>
              <a:rPr lang="en-US" altLang="ko" dirty="0">
                <a:solidFill>
                  <a:srgbClr val="19264B"/>
                </a:solidFill>
              </a:rPr>
              <a:t>.</a:t>
            </a:r>
            <a:r>
              <a:rPr lang="en-US" altLang="ko-KR" dirty="0">
                <a:solidFill>
                  <a:srgbClr val="19264B"/>
                </a:solidFill>
              </a:rPr>
              <a:t>15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 dirty="0">
                <a:solidFill>
                  <a:srgbClr val="19264B"/>
                </a:solidFill>
              </a:rPr>
              <a:t>발표자 : </a:t>
            </a:r>
            <a:r>
              <a:rPr lang="ko-KR" altLang="en-US" sz="1100" b="1" dirty="0" err="1">
                <a:solidFill>
                  <a:srgbClr val="19264B"/>
                </a:solidFill>
              </a:rPr>
              <a:t>이채린</a:t>
            </a:r>
            <a:endParaRPr sz="1100" b="1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프로젝트</a:t>
            </a:r>
            <a:r>
              <a:rPr lang="ko" sz="20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원 소개 및 만남 인증</a:t>
            </a:r>
            <a:endParaRPr sz="2000" b="1" dirty="0">
              <a:solidFill>
                <a:srgbClr val="19264B"/>
              </a:solidFill>
              <a:latin typeface="+mj-lt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5310739" y="1824031"/>
            <a:ext cx="3043447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dirty="0">
                <a:latin typeface="+mj-lt"/>
              </a:rPr>
              <a:t>프로젝트원 </a:t>
            </a:r>
            <a:r>
              <a:rPr lang="en-US" altLang="ko-KR" b="1" dirty="0">
                <a:latin typeface="+mj-lt"/>
              </a:rPr>
              <a:t>1: </a:t>
            </a:r>
            <a:r>
              <a:rPr lang="ko-KR" altLang="en-US" b="1" dirty="0">
                <a:latin typeface="+mj-lt"/>
              </a:rPr>
              <a:t>김성민</a:t>
            </a:r>
            <a:endParaRPr b="1" dirty="0">
              <a:latin typeface="+mj-l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dirty="0">
                <a:latin typeface="+mj-lt"/>
              </a:rPr>
              <a:t>프로젝트원 </a:t>
            </a:r>
            <a:r>
              <a:rPr lang="en-US" altLang="ko-KR" b="1" dirty="0">
                <a:latin typeface="+mj-lt"/>
              </a:rPr>
              <a:t>2: </a:t>
            </a:r>
            <a:r>
              <a:rPr lang="ko-KR" altLang="en-US" b="1" dirty="0" err="1">
                <a:latin typeface="+mj-lt"/>
              </a:rPr>
              <a:t>나준원</a:t>
            </a:r>
            <a:endParaRPr lang="en-US" altLang="ko-KR" b="1" dirty="0">
              <a:latin typeface="+mj-l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dirty="0">
                <a:latin typeface="+mj-lt"/>
              </a:rPr>
              <a:t>프로젝트원 </a:t>
            </a:r>
            <a:r>
              <a:rPr lang="en-US" altLang="ko-KR" b="1" dirty="0">
                <a:latin typeface="+mj-lt"/>
              </a:rPr>
              <a:t>3:</a:t>
            </a:r>
            <a:r>
              <a:rPr lang="ko-KR" altLang="en-US" b="1" dirty="0">
                <a:latin typeface="+mj-lt"/>
              </a:rPr>
              <a:t> </a:t>
            </a:r>
            <a:r>
              <a:rPr lang="ko-KR" altLang="en-US" b="1" dirty="0" err="1">
                <a:latin typeface="+mj-lt"/>
              </a:rPr>
              <a:t>이채린</a:t>
            </a:r>
            <a:endParaRPr lang="en-US" altLang="ko-KR" b="1" dirty="0">
              <a:latin typeface="+mj-lt"/>
            </a:endParaRPr>
          </a:p>
        </p:txBody>
      </p:sp>
      <p:pic>
        <p:nvPicPr>
          <p:cNvPr id="3" name="그림 2" descr="텍스트, 소프트웨어, 멀티미디어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70854D-D0F2-F255-4E78-A2BB56DE1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975" y="1493943"/>
            <a:ext cx="3512700" cy="21682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8404F0CF-8DF1-849F-B0BA-B52B1C090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FA4A6F37-09F1-276D-D7B1-079BFCF39328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1F5D228C-1063-5C82-59B6-F20540ED601C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B2962229-BB47-B494-4D9E-F349CF08982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C6F4286C-FE18-B770-7626-A06845B0F1CB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주제 소개</a:t>
            </a:r>
            <a:endParaRPr sz="2000" b="1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2" name="Google Shape;67;p14">
            <a:extLst>
              <a:ext uri="{FF2B5EF4-FFF2-40B4-BE49-F238E27FC236}">
                <a16:creationId xmlns:a16="http://schemas.microsoft.com/office/drawing/2014/main" id="{2193B845-FFFA-447B-36A2-03581757798C}"/>
              </a:ext>
            </a:extLst>
          </p:cNvPr>
          <p:cNvSpPr txBox="1"/>
          <p:nvPr/>
        </p:nvSpPr>
        <p:spPr>
          <a:xfrm>
            <a:off x="1510966" y="845454"/>
            <a:ext cx="7060627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altLang="ko-KR" dirty="0"/>
              <a:t>text-to-image(</a:t>
            </a:r>
            <a:r>
              <a:rPr lang="ko-KR" altLang="en-US" dirty="0"/>
              <a:t>또는 이미지 편집</a:t>
            </a:r>
            <a:r>
              <a:rPr lang="en-US" altLang="ko-KR" dirty="0"/>
              <a:t>) </a:t>
            </a:r>
            <a:r>
              <a:rPr lang="ko-KR" altLang="en-US" dirty="0"/>
              <a:t>생성 모델이 만들어내는 </a:t>
            </a:r>
            <a:r>
              <a:rPr lang="ko-KR" altLang="en-US" b="1" dirty="0"/>
              <a:t>이미지 내부의 한국어</a:t>
            </a:r>
            <a:r>
              <a:rPr lang="en-US" altLang="ko-KR" b="1" dirty="0"/>
              <a:t>(</a:t>
            </a:r>
            <a:r>
              <a:rPr lang="ko-KR" altLang="en-US" b="1" dirty="0"/>
              <a:t>한글</a:t>
            </a:r>
            <a:r>
              <a:rPr lang="en-US" altLang="ko-KR" b="1" dirty="0"/>
              <a:t>) </a:t>
            </a:r>
            <a:r>
              <a:rPr lang="ko-KR" altLang="en-US" b="1" dirty="0"/>
              <a:t>텍스트 렌더링 품질</a:t>
            </a:r>
            <a:r>
              <a:rPr lang="en-US" altLang="ko-KR" b="1" dirty="0"/>
              <a:t>(</a:t>
            </a:r>
            <a:r>
              <a:rPr lang="ko-KR" altLang="en-US" b="1" dirty="0"/>
              <a:t>정확도</a:t>
            </a:r>
            <a:r>
              <a:rPr lang="en-US" altLang="ko-KR" b="1" dirty="0"/>
              <a:t>·</a:t>
            </a:r>
            <a:r>
              <a:rPr lang="ko-KR" altLang="en-US" b="1" dirty="0"/>
              <a:t>가독성</a:t>
            </a:r>
            <a:r>
              <a:rPr lang="en-US" altLang="ko-KR" b="1" dirty="0"/>
              <a:t>·</a:t>
            </a:r>
            <a:r>
              <a:rPr lang="ko-KR" altLang="en-US" b="1" dirty="0"/>
              <a:t>일관성</a:t>
            </a:r>
            <a:r>
              <a:rPr lang="en-US" altLang="ko-KR" b="1" dirty="0"/>
              <a:t>)</a:t>
            </a:r>
            <a:r>
              <a:rPr lang="ko-KR" altLang="en-US" b="1" dirty="0"/>
              <a:t>을 체계적으로 향상시키는 방법</a:t>
            </a:r>
            <a:r>
              <a:rPr lang="ko-KR" altLang="en-US" dirty="0"/>
              <a:t>을 제안하고 검증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FD2D4C-587A-99EB-0628-B14DD29E4FD5}"/>
              </a:ext>
            </a:extLst>
          </p:cNvPr>
          <p:cNvSpPr txBox="1"/>
          <p:nvPr/>
        </p:nvSpPr>
        <p:spPr>
          <a:xfrm>
            <a:off x="1663366" y="3113138"/>
            <a:ext cx="62855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altLang="ko-KR" sz="2000" b="0" i="0" u="none" strike="noStrike" dirty="0">
                <a:solidFill>
                  <a:schemeClr val="tx1"/>
                </a:solidFill>
                <a:effectLst/>
                <a:latin typeface="var(--headings-font-family)"/>
              </a:rPr>
              <a:t>“FLUX-Text: A Simple and Advanced Diffusion Transformer Baseline for Scene Text Editing”</a:t>
            </a:r>
          </a:p>
        </p:txBody>
      </p:sp>
    </p:spTree>
    <p:extLst>
      <p:ext uri="{BB962C8B-B14F-4D97-AF65-F5344CB8AC3E}">
        <p14:creationId xmlns:p14="http://schemas.microsoft.com/office/powerpoint/2010/main" val="3505738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408975" y="306875"/>
            <a:ext cx="6417854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2000" dirty="0">
                <a:latin typeface="Franklin Gothic Medium" panose="020B0603020102020204" pitchFamily="34" charset="0"/>
              </a:rPr>
              <a:t>Problem Definition: Why Scene Text Editing is Hard</a:t>
            </a:r>
            <a:endParaRPr lang="ko-KR" altLang="en-US" sz="2000" b="1" dirty="0">
              <a:solidFill>
                <a:srgbClr val="19264B"/>
              </a:solidFill>
              <a:latin typeface="Franklin Gothic Medium" panose="020B0603020102020204" pitchFamily="34" charset="0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3" name="Google Shape;83;p16">
            <a:extLst>
              <a:ext uri="{FF2B5EF4-FFF2-40B4-BE49-F238E27FC236}">
                <a16:creationId xmlns:a16="http://schemas.microsoft.com/office/drawing/2014/main" id="{5A8C8EAE-862F-3B20-3413-FCC18076C09A}"/>
              </a:ext>
            </a:extLst>
          </p:cNvPr>
          <p:cNvSpPr txBox="1"/>
          <p:nvPr/>
        </p:nvSpPr>
        <p:spPr>
          <a:xfrm>
            <a:off x="1597301" y="1156553"/>
            <a:ext cx="6229528" cy="2095928"/>
          </a:xfrm>
          <a:prstGeom prst="rect">
            <a:avLst/>
          </a:prstGeom>
          <a:noFill/>
          <a:ln w="25400"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endParaRPr lang="en-US" b="1" dirty="0">
              <a:solidFill>
                <a:srgbClr val="19264B"/>
              </a:solidFill>
              <a:latin typeface="+mj-lt"/>
              <a:ea typeface="NanumGothic ExtraBold"/>
              <a:cs typeface="NanumGothic ExtraBold"/>
              <a:sym typeface="NanumGothic ExtraBold"/>
            </a:endParaRPr>
          </a:p>
          <a:p>
            <a:pPr marL="285750" indent="-285750">
              <a:buFontTx/>
              <a:buChar char="-"/>
            </a:pPr>
            <a:r>
              <a:rPr lang="en-US" altLang="ko-KR" dirty="0"/>
              <a:t>Diffusion </a:t>
            </a:r>
            <a:r>
              <a:rPr lang="ko-KR" altLang="en-US" dirty="0"/>
              <a:t>모델은 </a:t>
            </a:r>
            <a:r>
              <a:rPr lang="ko-KR" altLang="en-US" sz="1600" b="1" dirty="0"/>
              <a:t>배경은 잘 생성</a:t>
            </a:r>
            <a:r>
              <a:rPr lang="en-US" altLang="ko-KR" sz="1600" b="1" dirty="0"/>
              <a:t>, </a:t>
            </a:r>
            <a:r>
              <a:rPr lang="ko-KR" altLang="en-US" sz="1600" b="1" dirty="0">
                <a:solidFill>
                  <a:srgbClr val="FF0000"/>
                </a:solidFill>
              </a:rPr>
              <a:t>텍스트는 취약</a:t>
            </a:r>
            <a:endParaRPr lang="ko-KR" altLang="en-US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dirty="0"/>
              <a:t>텍스트 영역이 작아 </a:t>
            </a:r>
            <a:r>
              <a:rPr lang="en-US" altLang="ko-KR" sz="1600" b="1" dirty="0">
                <a:solidFill>
                  <a:srgbClr val="FF0000"/>
                </a:solidFill>
              </a:rPr>
              <a:t>gradient </a:t>
            </a:r>
            <a:r>
              <a:rPr lang="ko-KR" altLang="en-US" sz="1600" b="1" dirty="0">
                <a:solidFill>
                  <a:srgbClr val="FF0000"/>
                </a:solidFill>
              </a:rPr>
              <a:t>희석</a:t>
            </a:r>
            <a:endParaRPr lang="ko-KR" altLang="en-US" sz="1600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dirty="0"/>
              <a:t>언어 모델</a:t>
            </a:r>
            <a:r>
              <a:rPr lang="en-US" altLang="ko-KR" dirty="0"/>
              <a:t>(T5/CLIP)</a:t>
            </a:r>
            <a:r>
              <a:rPr lang="ko-KR" altLang="en-US" dirty="0"/>
              <a:t>은 </a:t>
            </a:r>
            <a:r>
              <a:rPr lang="ko-KR" altLang="en-US" sz="1600" b="1" dirty="0"/>
              <a:t>의미만</a:t>
            </a:r>
            <a:r>
              <a:rPr lang="en-US" altLang="ko-KR" dirty="0"/>
              <a:t>, </a:t>
            </a:r>
            <a:r>
              <a:rPr lang="ko-KR" altLang="en-US" dirty="0"/>
              <a:t>글자 형태는 모름</a:t>
            </a:r>
            <a:endParaRPr lang="en-US" altLang="ko-KR" dirty="0"/>
          </a:p>
          <a:p>
            <a:endParaRPr lang="ko-KR" altLang="en-US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기존 해결책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	Glyph / ControlNet → </a:t>
            </a:r>
            <a:r>
              <a:rPr lang="ko-KR" altLang="en-US" sz="1600" b="1" dirty="0">
                <a:solidFill>
                  <a:srgbClr val="FF0000"/>
                </a:solidFill>
              </a:rPr>
              <a:t>무겁고 비효율적</a:t>
            </a:r>
            <a:endParaRPr lang="ko-KR" altLang="en-US" dirty="0">
              <a:solidFill>
                <a:srgbClr val="FF0000"/>
              </a:solidFill>
            </a:endParaRPr>
          </a:p>
          <a:p>
            <a:pPr lvl="0" algn="ctr">
              <a:lnSpc>
                <a:spcPct val="115000"/>
              </a:lnSpc>
            </a:pPr>
            <a:endParaRPr b="1" dirty="0">
              <a:solidFill>
                <a:srgbClr val="19264B"/>
              </a:solidFill>
              <a:latin typeface="+mj-lt"/>
              <a:ea typeface="NanumGothic ExtraBold"/>
              <a:cs typeface="NanumGothic ExtraBold"/>
              <a:sym typeface="NanumGothic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07AB32AD-37F9-83B3-C5BB-E69A044AF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252DA4D6-0002-0296-D91F-4B7897A77CF1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E0554192-1D96-7EA8-70F7-11FAD10B58AC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16AC3F8A-2252-1F89-8788-B7A2DF121D4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8DFB126D-C07F-238C-CA4F-27CB64FDDC00}"/>
              </a:ext>
            </a:extLst>
          </p:cNvPr>
          <p:cNvSpPr txBox="1"/>
          <p:nvPr/>
        </p:nvSpPr>
        <p:spPr>
          <a:xfrm>
            <a:off x="1408975" y="306875"/>
            <a:ext cx="6417854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1800" b="1" dirty="0"/>
              <a:t>FLUX-Text</a:t>
            </a:r>
            <a:r>
              <a:rPr lang="ko-KR" altLang="en-US" sz="1800" b="1" dirty="0"/>
              <a:t> </a:t>
            </a:r>
            <a:r>
              <a:rPr lang="en-US" altLang="ko-KR" sz="1800" b="1" dirty="0"/>
              <a:t>:</a:t>
            </a:r>
            <a:r>
              <a:rPr lang="ko-KR" altLang="en-US" sz="1800" b="1" dirty="0"/>
              <a:t> </a:t>
            </a:r>
            <a:r>
              <a:rPr lang="en-US" altLang="ko-KR" sz="1800" b="1" dirty="0"/>
              <a:t>Core</a:t>
            </a:r>
            <a:r>
              <a:rPr lang="ko-KR" altLang="en-US" sz="1800" b="1" dirty="0"/>
              <a:t> </a:t>
            </a:r>
            <a:r>
              <a:rPr lang="en-US" altLang="ko-KR" sz="1800" b="1" dirty="0"/>
              <a:t>Idea</a:t>
            </a:r>
            <a:endParaRPr lang="ko-KR" altLang="en-US" sz="2800" b="1" dirty="0">
              <a:solidFill>
                <a:srgbClr val="19264B"/>
              </a:solidFill>
              <a:latin typeface="Franklin Gothic Medium" panose="020B0603020102020204" pitchFamily="34" charset="0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D2CD56-407F-1F3F-D56B-2E29F9E23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975" y="1120863"/>
            <a:ext cx="7467987" cy="22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189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A2AE926A-8183-96D1-CD3B-D8EC64F92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37031682-4384-BC72-9765-F9202DB1B9E0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AC4FF469-BA1F-5836-0930-CE330568A9A3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A9FB4C3C-0B99-8B97-B543-F06E8C29C8A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B7DE7DA5-CA04-CC77-4109-50B5EEE319F1}"/>
              </a:ext>
            </a:extLst>
          </p:cNvPr>
          <p:cNvSpPr txBox="1"/>
          <p:nvPr/>
        </p:nvSpPr>
        <p:spPr>
          <a:xfrm>
            <a:off x="1408975" y="306875"/>
            <a:ext cx="7941854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2000" b="1" dirty="0">
                <a:solidFill>
                  <a:schemeClr val="tx1"/>
                </a:solidFill>
              </a:rPr>
              <a:t>Our Research Goal: Applying FLUX-Text to Korean Scene Text</a:t>
            </a:r>
            <a:endParaRPr lang="ko-KR" altLang="en-US" sz="4000" b="1" dirty="0">
              <a:solidFill>
                <a:schemeClr val="tx1"/>
              </a:solidFill>
              <a:latin typeface="Franklin Gothic Medium" panose="020B0603020102020204" pitchFamily="34" charset="0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ED6EDF-A837-308A-6A9C-833426B79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4886" y="975153"/>
            <a:ext cx="6879770" cy="268704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8C29F66-1757-F2B2-B8C3-10A7D8F44291}"/>
              </a:ext>
            </a:extLst>
          </p:cNvPr>
          <p:cNvSpPr/>
          <p:nvPr/>
        </p:nvSpPr>
        <p:spPr>
          <a:xfrm>
            <a:off x="1534886" y="3080657"/>
            <a:ext cx="6879770" cy="5706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53646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0299CF14-5C95-AD3F-87EE-AEF5AED3A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30E8F129-CE2F-9274-06EE-6A252721A6FB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7CAFEA3A-46E3-BFD1-BCCF-03A17F5998BC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D22CA7A5-2A40-D8AB-B3D8-A78B165915A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AC925510-9BAE-48B5-028D-72F75D83CD02}"/>
              </a:ext>
            </a:extLst>
          </p:cNvPr>
          <p:cNvSpPr txBox="1"/>
          <p:nvPr/>
        </p:nvSpPr>
        <p:spPr>
          <a:xfrm>
            <a:off x="1408975" y="306875"/>
            <a:ext cx="7941854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2000" b="1" dirty="0">
                <a:solidFill>
                  <a:schemeClr val="tx1"/>
                </a:solidFill>
                <a:latin typeface="Franklin Gothic Medium" panose="020B0603020102020204" pitchFamily="34" charset="0"/>
                <a:ea typeface="NanumGothic ExtraBold"/>
                <a:cs typeface="NanumGothic ExtraBold"/>
                <a:sym typeface="NanumGothic ExtraBold"/>
              </a:rPr>
              <a:t>Research Setting</a:t>
            </a:r>
            <a:endParaRPr lang="ko-KR" altLang="en-US" sz="4000" b="1" dirty="0">
              <a:solidFill>
                <a:schemeClr val="tx1"/>
              </a:solidFill>
              <a:latin typeface="Franklin Gothic Medium" panose="020B0603020102020204" pitchFamily="34" charset="0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4" name="Google Shape;83;p16">
            <a:extLst>
              <a:ext uri="{FF2B5EF4-FFF2-40B4-BE49-F238E27FC236}">
                <a16:creationId xmlns:a16="http://schemas.microsoft.com/office/drawing/2014/main" id="{F115E98E-CC1B-58A6-80F4-423A5A39C077}"/>
              </a:ext>
            </a:extLst>
          </p:cNvPr>
          <p:cNvSpPr txBox="1"/>
          <p:nvPr/>
        </p:nvSpPr>
        <p:spPr>
          <a:xfrm>
            <a:off x="1597301" y="1156553"/>
            <a:ext cx="6229528" cy="1909723"/>
          </a:xfrm>
          <a:prstGeom prst="rect">
            <a:avLst/>
          </a:prstGeom>
          <a:noFill/>
          <a:ln w="25400"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altLang="ko-KR" sz="1600" dirty="0"/>
              <a:t>Input:</a:t>
            </a:r>
          </a:p>
          <a:p>
            <a:r>
              <a:rPr lang="en-US" altLang="ko-KR" sz="1600" dirty="0"/>
              <a:t>	Image</a:t>
            </a:r>
          </a:p>
          <a:p>
            <a:r>
              <a:rPr lang="en-US" altLang="ko-KR" sz="1600" dirty="0"/>
              <a:t>	Text region mask</a:t>
            </a:r>
          </a:p>
          <a:p>
            <a:r>
              <a:rPr lang="en-US" altLang="ko-KR" sz="1600" dirty="0"/>
              <a:t>	Korean text</a:t>
            </a:r>
          </a:p>
          <a:p>
            <a:r>
              <a:rPr lang="en-US" altLang="ko-KR" sz="1600" dirty="0"/>
              <a:t>Output:</a:t>
            </a:r>
          </a:p>
          <a:p>
            <a:r>
              <a:rPr lang="en-US" altLang="ko-KR" sz="1600" dirty="0"/>
              <a:t>	Text-edited image</a:t>
            </a:r>
          </a:p>
          <a:p>
            <a:pPr lvl="0" algn="ctr">
              <a:lnSpc>
                <a:spcPct val="115000"/>
              </a:lnSpc>
            </a:pPr>
            <a:endParaRPr b="1" dirty="0">
              <a:solidFill>
                <a:srgbClr val="19264B"/>
              </a:solidFill>
              <a:latin typeface="+mj-lt"/>
              <a:ea typeface="NanumGothic ExtraBold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669762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3F3D2733-ADA8-8B7A-F3F8-BD56EBBBB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2BE7BBD3-478E-E8DC-1F73-C53CDC29626D}"/>
              </a:ext>
            </a:extLst>
          </p:cNvPr>
          <p:cNvSpPr/>
          <p:nvPr/>
        </p:nvSpPr>
        <p:spPr>
          <a:xfrm>
            <a:off x="0" y="-37950"/>
            <a:ext cx="918464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91A39314-F054-AA15-6DB2-98B9A1D00580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AD92993E-C9DC-3773-F505-9AADC3DA8F0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3FBA4906-18AE-3C24-BE02-498F5EEEFB7C}"/>
              </a:ext>
            </a:extLst>
          </p:cNvPr>
          <p:cNvSpPr txBox="1"/>
          <p:nvPr/>
        </p:nvSpPr>
        <p:spPr>
          <a:xfrm>
            <a:off x="2739935" y="2125489"/>
            <a:ext cx="4427945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000" b="1" dirty="0">
                <a:solidFill>
                  <a:schemeClr val="bg1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감사합니다</a:t>
            </a:r>
            <a:r>
              <a:rPr lang="en-US" altLang="ko-KR" sz="4000" b="1" dirty="0">
                <a:solidFill>
                  <a:schemeClr val="bg1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. </a:t>
            </a:r>
            <a:endParaRPr sz="4000" b="1" dirty="0">
              <a:solidFill>
                <a:schemeClr val="bg1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87917607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4C7CDFB7A122384D90D339604581DF7F" ma:contentTypeVersion="5" ma:contentTypeDescription="새 문서를 만듭니다." ma:contentTypeScope="" ma:versionID="2169f00a9bfb733468103c3855da3a3c">
  <xsd:schema xmlns:xsd="http://www.w3.org/2001/XMLSchema" xmlns:xs="http://www.w3.org/2001/XMLSchema" xmlns:p="http://schemas.microsoft.com/office/2006/metadata/properties" xmlns:ns3="5a25e921-cf3f-461b-a6eb-105e8cee8f82" targetNamespace="http://schemas.microsoft.com/office/2006/metadata/properties" ma:root="true" ma:fieldsID="851a16cabec70bec2a2fd100aa50610e" ns3:_="">
    <xsd:import namespace="5a25e921-cf3f-461b-a6eb-105e8cee8f8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25e921-cf3f-461b-a6eb-105e8cee8f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a25e921-cf3f-461b-a6eb-105e8cee8f82" xsi:nil="true"/>
  </documentManagement>
</p:properties>
</file>

<file path=customXml/itemProps1.xml><?xml version="1.0" encoding="utf-8"?>
<ds:datastoreItem xmlns:ds="http://schemas.openxmlformats.org/officeDocument/2006/customXml" ds:itemID="{B1D9E52A-0923-498F-8736-6069AC06EB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13D352B-1510-49D4-B5E1-49DB03997D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25e921-cf3f-461b-a6eb-105e8cee8f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1A533D7-F706-4765-8047-CDB899C592B8}">
  <ds:schemaRefs>
    <ds:schemaRef ds:uri="http://www.w3.org/XML/1998/namespace"/>
    <ds:schemaRef ds:uri="http://schemas.microsoft.com/office/2006/metadata/properties"/>
    <ds:schemaRef ds:uri="http://purl.org/dc/dcmitype/"/>
    <ds:schemaRef ds:uri="http://purl.org/dc/terms/"/>
    <ds:schemaRef ds:uri="http://purl.org/dc/elements/1.1/"/>
    <ds:schemaRef ds:uri="5a25e921-cf3f-461b-a6eb-105e8cee8f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764</TotalTime>
  <Words>634</Words>
  <Application>Microsoft Macintosh PowerPoint</Application>
  <PresentationFormat>화면 슬라이드 쇼(16:9)</PresentationFormat>
  <Paragraphs>41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NanumGothic ExtraBold</vt:lpstr>
      <vt:lpstr>var(--headings-font-family)</vt:lpstr>
      <vt:lpstr>Arial</vt:lpstr>
      <vt:lpstr>Franklin Gothic Medium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dongha Lee</dc:creator>
  <cp:lastModifiedBy>김성민</cp:lastModifiedBy>
  <cp:revision>36</cp:revision>
  <dcterms:modified xsi:type="dcterms:W3CDTF">2026-01-15T05:30:03Z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0x0101004C7CDFB7A122384D90D339604581DF7F</vt:lpwstr>
  </property>
</Properties>
</file>