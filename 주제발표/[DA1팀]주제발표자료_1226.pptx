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CD3E80C-8E70-EC14-CCD8-7E5CD788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F6AE7F7B-7784-5F10-FE49-AAD6032F7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7CAF6F3-EAE7-43C9-30F9-EFCD1DF3F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886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동계 컨퍼런스 </a:t>
            </a:r>
            <a:r>
              <a:rPr lang="en-US" altLang="ko-KR" sz="2500" b="1" dirty="0">
                <a:solidFill>
                  <a:srgbClr val="19264B"/>
                </a:solidFill>
              </a:rPr>
              <a:t>DA</a:t>
            </a:r>
            <a:r>
              <a:rPr lang="ko" sz="2500" b="1" dirty="0">
                <a:solidFill>
                  <a:srgbClr val="19264B"/>
                </a:solidFill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</a:rPr>
              <a:t>1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5.12.26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신수인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848099" y="1309896"/>
            <a:ext cx="2282100" cy="12618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ko" dirty="0"/>
              <a:t>스터디원 1 : </a:t>
            </a:r>
            <a:r>
              <a:rPr lang="ko-KR" altLang="en-US" dirty="0"/>
              <a:t>신수인</a:t>
            </a:r>
            <a:endParaRPr lang="en-US" altLang="ko-KR" dirty="0"/>
          </a:p>
          <a:p>
            <a:pPr algn="ctr"/>
            <a:endParaRPr lang="en-US" altLang="ko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/>
              <a:t>전해인</a:t>
            </a:r>
            <a:endParaRPr lang="en-US" altLang="ko-K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algn="ctr"/>
            <a:r>
              <a:rPr lang="ko" dirty="0"/>
              <a:t>스터디원 3 : </a:t>
            </a:r>
            <a:r>
              <a:rPr lang="ko-KR" altLang="en-US" dirty="0"/>
              <a:t>한종성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6F2E91-0A84-52EF-5641-BA72B3BAD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803" y="353480"/>
            <a:ext cx="2636677" cy="44831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주제 및 데이터 선정</a:t>
            </a:r>
            <a:endParaRPr lang="en-US" altLang="ko-KR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D51DC97C-99F0-ED45-C411-BD8E83D9363F}"/>
              </a:ext>
            </a:extLst>
          </p:cNvPr>
          <p:cNvSpPr txBox="1"/>
          <p:nvPr/>
        </p:nvSpPr>
        <p:spPr>
          <a:xfrm>
            <a:off x="1900019" y="953950"/>
            <a:ext cx="401310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AI Impact on Jobs 2030 from</a:t>
            </a:r>
            <a:r>
              <a:rPr lang="ko-KR" altLang="en-US" sz="2000" dirty="0"/>
              <a:t> </a:t>
            </a:r>
            <a:r>
              <a:rPr lang="en-US" altLang="ko-KR" sz="2000" dirty="0"/>
              <a:t>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81BAD-DBDE-3389-B4A4-C06C09E4E4C7}"/>
              </a:ext>
            </a:extLst>
          </p:cNvPr>
          <p:cNvSpPr txBox="1"/>
          <p:nvPr/>
        </p:nvSpPr>
        <p:spPr>
          <a:xfrm>
            <a:off x="2033016" y="1531180"/>
            <a:ext cx="5077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3C4043"/>
                </a:solidFill>
                <a:effectLst/>
                <a:latin typeface="+mn-lt"/>
              </a:rPr>
              <a:t>how various professions, skills, and education levels </a:t>
            </a:r>
          </a:p>
          <a:p>
            <a:r>
              <a:rPr lang="en-US" altLang="ko-KR" b="0" i="0" dirty="0">
                <a:solidFill>
                  <a:srgbClr val="3C4043"/>
                </a:solidFill>
                <a:effectLst/>
                <a:latin typeface="+mn-lt"/>
              </a:rPr>
              <a:t>might be impacted by AI-driven automation by the year 2030.</a:t>
            </a:r>
            <a:endParaRPr lang="ko-KR" altLang="en-US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8750E-3B74-32C5-8AF4-E59BB1FEAE4F}"/>
              </a:ext>
            </a:extLst>
          </p:cNvPr>
          <p:cNvSpPr txBox="1"/>
          <p:nvPr/>
        </p:nvSpPr>
        <p:spPr>
          <a:xfrm>
            <a:off x="2090705" y="2470150"/>
            <a:ext cx="457200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Predictive modeling of automation probability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82FC1-D259-2697-748A-71CC9DFAE844}"/>
              </a:ext>
            </a:extLst>
          </p:cNvPr>
          <p:cNvSpPr txBox="1"/>
          <p:nvPr/>
        </p:nvSpPr>
        <p:spPr>
          <a:xfrm>
            <a:off x="2033016" y="3037380"/>
            <a:ext cx="50779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+mn-lt"/>
              </a:rPr>
              <a:t>Cols: </a:t>
            </a:r>
            <a:r>
              <a:rPr lang="en-US" altLang="ko-KR" dirty="0" err="1">
                <a:latin typeface="+mn-lt"/>
              </a:rPr>
              <a:t>Job_Title</a:t>
            </a:r>
            <a:r>
              <a:rPr lang="en-US" altLang="ko-KR" dirty="0">
                <a:latin typeface="+mn-lt"/>
              </a:rPr>
              <a:t>, </a:t>
            </a:r>
            <a:r>
              <a:rPr lang="en-US" altLang="ko-KR" dirty="0" err="1">
                <a:latin typeface="+mn-lt"/>
              </a:rPr>
              <a:t>Average_Salary</a:t>
            </a:r>
            <a:r>
              <a:rPr lang="en-US" altLang="ko-KR" dirty="0">
                <a:latin typeface="+mn-lt"/>
              </a:rPr>
              <a:t>, </a:t>
            </a:r>
            <a:r>
              <a:rPr lang="en-US" altLang="ko-KR" dirty="0" err="1">
                <a:latin typeface="+mn-lt"/>
              </a:rPr>
              <a:t>Years_Experience</a:t>
            </a:r>
            <a:r>
              <a:rPr lang="en-US" altLang="ko-KR" dirty="0">
                <a:latin typeface="+mn-lt"/>
              </a:rPr>
              <a:t>, </a:t>
            </a:r>
            <a:r>
              <a:rPr lang="en-US" altLang="ko-KR" dirty="0" err="1">
                <a:latin typeface="+mn-lt"/>
              </a:rPr>
              <a:t>Education_Level</a:t>
            </a:r>
            <a:r>
              <a:rPr lang="en-US" altLang="ko-KR" dirty="0">
                <a:latin typeface="+mn-lt"/>
              </a:rPr>
              <a:t>, </a:t>
            </a:r>
            <a:r>
              <a:rPr lang="en-US" altLang="ko-KR" dirty="0" err="1">
                <a:latin typeface="+mn-lt"/>
              </a:rPr>
              <a:t>AI_Exposure_Index</a:t>
            </a:r>
            <a:r>
              <a:rPr lang="en-US" altLang="ko-KR" dirty="0">
                <a:latin typeface="+mn-lt"/>
              </a:rPr>
              <a:t>, </a:t>
            </a:r>
            <a:r>
              <a:rPr lang="en-US" altLang="ko-KR" dirty="0" err="1">
                <a:latin typeface="+mn-lt"/>
              </a:rPr>
              <a:t>Tech_Growth_Factor</a:t>
            </a:r>
            <a:r>
              <a:rPr lang="en-US" altLang="ko-KR" dirty="0">
                <a:latin typeface="+mn-lt"/>
              </a:rPr>
              <a:t>, Automation_Probability_2030, </a:t>
            </a:r>
            <a:r>
              <a:rPr lang="en-US" altLang="ko-KR" dirty="0" err="1">
                <a:latin typeface="+mn-lt"/>
              </a:rPr>
              <a:t>Risk_Category</a:t>
            </a:r>
            <a:r>
              <a:rPr lang="en-US" altLang="ko-KR" dirty="0">
                <a:latin typeface="+mn-lt"/>
              </a:rPr>
              <a:t>, Skill_1~10</a:t>
            </a:r>
          </a:p>
          <a:p>
            <a:endParaRPr lang="en-US" altLang="ko-KR" dirty="0">
              <a:latin typeface="+mn-lt"/>
            </a:endParaRPr>
          </a:p>
          <a:p>
            <a:r>
              <a:rPr lang="en-US" altLang="ko-KR" dirty="0">
                <a:latin typeface="+mn-lt"/>
              </a:rPr>
              <a:t>Target: Automation_Probability_2030 (</a:t>
            </a:r>
            <a:r>
              <a:rPr lang="ko-KR" altLang="en-US" dirty="0">
                <a:latin typeface="+mn-lt"/>
              </a:rPr>
              <a:t>회귀</a:t>
            </a:r>
            <a:r>
              <a:rPr lang="en-US" altLang="ko-KR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618967E-379C-E713-344A-A1787FE7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DA3F1AC-805F-B048-A147-1FE9522C9B2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4D860118-B8E4-4D3B-EA67-8D02CD52A45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B3C169EE-EB26-4CB7-726A-185DA759C1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3E1EFD1-51E5-70C5-E997-8CA97D5F85D0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주제 및 데이터 선정</a:t>
            </a:r>
            <a:endParaRPr lang="en-US" altLang="ko-KR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CB6FFE56-C051-8ECA-E2B6-7A40A4B931E7}"/>
              </a:ext>
            </a:extLst>
          </p:cNvPr>
          <p:cNvSpPr txBox="1"/>
          <p:nvPr/>
        </p:nvSpPr>
        <p:spPr>
          <a:xfrm>
            <a:off x="1696819" y="845454"/>
            <a:ext cx="401310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AI Impact on Jobs 2030 from</a:t>
            </a:r>
            <a:r>
              <a:rPr lang="ko-KR" altLang="en-US" sz="1600" dirty="0"/>
              <a:t> </a:t>
            </a:r>
            <a:r>
              <a:rPr lang="en-US" altLang="ko-KR" sz="1600" dirty="0"/>
              <a:t>MIT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7B71B-B515-F9AD-9988-8065D40EF05F}"/>
              </a:ext>
            </a:extLst>
          </p:cNvPr>
          <p:cNvSpPr txBox="1"/>
          <p:nvPr/>
        </p:nvSpPr>
        <p:spPr>
          <a:xfrm>
            <a:off x="1819642" y="1265025"/>
            <a:ext cx="60746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atin typeface="+mn-lt"/>
              </a:rPr>
              <a:t>Cols: </a:t>
            </a:r>
            <a:r>
              <a:rPr lang="en-US" altLang="ko-KR" sz="1100" dirty="0" err="1">
                <a:latin typeface="+mn-lt"/>
              </a:rPr>
              <a:t>Job_Title</a:t>
            </a:r>
            <a:r>
              <a:rPr lang="en-US" altLang="ko-KR" sz="1100" dirty="0">
                <a:latin typeface="+mn-lt"/>
              </a:rPr>
              <a:t>, </a:t>
            </a:r>
            <a:r>
              <a:rPr lang="en-US" altLang="ko-KR" sz="1100" dirty="0" err="1">
                <a:latin typeface="+mn-lt"/>
              </a:rPr>
              <a:t>Average_Salary</a:t>
            </a:r>
            <a:r>
              <a:rPr lang="en-US" altLang="ko-KR" sz="1100" dirty="0">
                <a:latin typeface="+mn-lt"/>
              </a:rPr>
              <a:t>, </a:t>
            </a:r>
            <a:r>
              <a:rPr lang="en-US" altLang="ko-KR" sz="1100" dirty="0" err="1">
                <a:latin typeface="+mn-lt"/>
              </a:rPr>
              <a:t>Years_Experience</a:t>
            </a:r>
            <a:r>
              <a:rPr lang="en-US" altLang="ko-KR" sz="1100" dirty="0">
                <a:latin typeface="+mn-lt"/>
              </a:rPr>
              <a:t>, </a:t>
            </a:r>
            <a:r>
              <a:rPr lang="en-US" altLang="ko-KR" sz="1100" dirty="0" err="1">
                <a:latin typeface="+mn-lt"/>
              </a:rPr>
              <a:t>Education_Level</a:t>
            </a:r>
            <a:r>
              <a:rPr lang="en-US" altLang="ko-KR" sz="1100" dirty="0">
                <a:latin typeface="+mn-lt"/>
              </a:rPr>
              <a:t>, </a:t>
            </a:r>
            <a:r>
              <a:rPr lang="en-US" altLang="ko-KR" sz="1100" dirty="0" err="1">
                <a:latin typeface="+mn-lt"/>
              </a:rPr>
              <a:t>AI_Exposure_Index</a:t>
            </a:r>
            <a:r>
              <a:rPr lang="en-US" altLang="ko-KR" sz="1100" dirty="0">
                <a:latin typeface="+mn-lt"/>
              </a:rPr>
              <a:t>, </a:t>
            </a:r>
            <a:r>
              <a:rPr lang="en-US" altLang="ko-KR" sz="1100" dirty="0" err="1">
                <a:latin typeface="+mn-lt"/>
              </a:rPr>
              <a:t>Tech_Growth_Factor</a:t>
            </a:r>
            <a:r>
              <a:rPr lang="en-US" altLang="ko-KR" sz="1100" dirty="0">
                <a:latin typeface="+mn-lt"/>
              </a:rPr>
              <a:t>, Automation_Probability_2030, </a:t>
            </a:r>
            <a:r>
              <a:rPr lang="en-US" altLang="ko-KR" sz="1100" dirty="0" err="1">
                <a:latin typeface="+mn-lt"/>
              </a:rPr>
              <a:t>Risk_Category</a:t>
            </a:r>
            <a:r>
              <a:rPr lang="en-US" altLang="ko-KR" sz="1100" dirty="0">
                <a:latin typeface="+mn-lt"/>
              </a:rPr>
              <a:t>, Skill_1~10</a:t>
            </a:r>
          </a:p>
          <a:p>
            <a:endParaRPr lang="en-US" altLang="ko-KR" sz="1100" dirty="0">
              <a:latin typeface="+mn-lt"/>
            </a:endParaRPr>
          </a:p>
          <a:p>
            <a:r>
              <a:rPr lang="en-US" altLang="ko-KR" sz="1100" dirty="0">
                <a:latin typeface="+mn-lt"/>
              </a:rPr>
              <a:t>Target: Automation_Probability_2030 (</a:t>
            </a:r>
            <a:r>
              <a:rPr lang="ko-KR" altLang="en-US" sz="1100" dirty="0">
                <a:latin typeface="+mn-lt"/>
              </a:rPr>
              <a:t>회귀</a:t>
            </a:r>
            <a:r>
              <a:rPr lang="en-US" altLang="ko-KR" sz="1100" dirty="0">
                <a:latin typeface="+mn-lt"/>
              </a:rPr>
              <a:t>)</a:t>
            </a:r>
            <a:endParaRPr lang="ko-KR" altLang="en-US" sz="1100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017EC3-BE77-7DCC-C216-777110975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95" y="2285502"/>
            <a:ext cx="7603379" cy="213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48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5;p15">
            <a:extLst>
              <a:ext uri="{FF2B5EF4-FFF2-40B4-BE49-F238E27FC236}">
                <a16:creationId xmlns:a16="http://schemas.microsoft.com/office/drawing/2014/main" id="{50B1843A-4EB2-018D-6BC3-3EDDFB67052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파이프라인</a:t>
            </a:r>
            <a:endParaRPr lang="en-US" altLang="ko-KR"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A09DB-03D2-9CBE-590D-C3040BE504D0}"/>
              </a:ext>
            </a:extLst>
          </p:cNvPr>
          <p:cNvSpPr txBox="1"/>
          <p:nvPr/>
        </p:nvSpPr>
        <p:spPr>
          <a:xfrm>
            <a:off x="2235200" y="1225439"/>
            <a:ext cx="56489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데이터셋 </a:t>
            </a:r>
            <a:r>
              <a:rPr lang="en-US" altLang="ko-KR" sz="1600" dirty="0">
                <a:solidFill>
                  <a:schemeClr val="tx1"/>
                </a:solidFill>
              </a:rPr>
              <a:t>EDA, </a:t>
            </a:r>
            <a:r>
              <a:rPr lang="ko-KR" altLang="en-US" sz="1600" dirty="0" err="1">
                <a:solidFill>
                  <a:schemeClr val="tx1"/>
                </a:solidFill>
              </a:rPr>
              <a:t>전처리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 err="1">
                <a:solidFill>
                  <a:schemeClr val="tx1"/>
                </a:solidFill>
              </a:rPr>
              <a:t>머신러닝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학습 및 평가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예측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endParaRPr lang="en-US" altLang="ko-KR" sz="1600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/>
              <a:t>직업별로 </a:t>
            </a:r>
            <a:r>
              <a:rPr lang="en-US" altLang="ko-KR" dirty="0"/>
              <a:t>AI </a:t>
            </a:r>
            <a:r>
              <a:rPr lang="ko-KR" altLang="en-US" dirty="0"/>
              <a:t>노출도</a:t>
            </a:r>
            <a:r>
              <a:rPr lang="en-US" altLang="ko-KR" dirty="0"/>
              <a:t>, </a:t>
            </a:r>
            <a:r>
              <a:rPr lang="ko-KR" altLang="en-US" dirty="0"/>
              <a:t>자동화 가능성이 높은 직무는 어떤 것인지 </a:t>
            </a:r>
            <a:r>
              <a:rPr lang="en-US" altLang="ko-KR" dirty="0"/>
              <a:t>(</a:t>
            </a:r>
            <a:r>
              <a:rPr lang="ko-KR" altLang="en-US" dirty="0"/>
              <a:t>전문직과 사무직의 차이 등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AI</a:t>
            </a:r>
            <a:r>
              <a:rPr lang="ko-KR" altLang="en-US" dirty="0"/>
              <a:t>에 영향을 덜 받는 직업은 어떤 특징을 가지고 있는지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AI </a:t>
            </a:r>
            <a:r>
              <a:rPr lang="ko-KR" altLang="en-US" dirty="0"/>
              <a:t>영향도 기준 클러스터링 및 시각화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/>
              <a:t>AI</a:t>
            </a:r>
            <a:r>
              <a:rPr lang="ko-KR" altLang="en-US" dirty="0"/>
              <a:t>와 일자리의 미래에 관한 다양한 인사이트를 뽑는 게 목적</a:t>
            </a: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236</Words>
  <Application>Microsoft Office PowerPoint</Application>
  <PresentationFormat>화면 슬라이드 쇼(16:9)</PresentationFormat>
  <Paragraphs>34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NanumGothic ExtraBold</vt:lpstr>
      <vt:lpstr>Arial</vt:lpstr>
      <vt:lpstr>Wingdings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Suin Shin</dc:creator>
  <cp:lastModifiedBy>신수인</cp:lastModifiedBy>
  <cp:revision>2</cp:revision>
  <dcterms:modified xsi:type="dcterms:W3CDTF">2025-12-25T08:47:03Z</dcterms:modified>
</cp:coreProperties>
</file>